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ppt/notesSlides/notesSlide27.xml" ContentType="application/vnd.openxmlformats-officedocument.presentationml.notesSlide+xml"/>
  <Override PartName="/ppt/tags/tag29.xml" ContentType="application/vnd.openxmlformats-officedocument.presentationml.tags+xml"/>
  <Override PartName="/ppt/notesSlides/notesSlide28.xml" ContentType="application/vnd.openxmlformats-officedocument.presentationml.notesSlide+xml"/>
  <Override PartName="/ppt/tags/tag30.xml" ContentType="application/vnd.openxmlformats-officedocument.presentationml.tags+xml"/>
  <Override PartName="/ppt/notesSlides/notesSlide29.xml" ContentType="application/vnd.openxmlformats-officedocument.presentationml.notesSlide+xml"/>
  <Override PartName="/ppt/tags/tag31.xml" ContentType="application/vnd.openxmlformats-officedocument.presentationml.tags+xml"/>
  <Override PartName="/ppt/notesSlides/notesSlide30.xml" ContentType="application/vnd.openxmlformats-officedocument.presentationml.notesSlide+xml"/>
  <Override PartName="/ppt/tags/tag32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33.xml" ContentType="application/vnd.openxmlformats-officedocument.presentationml.tags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37"/>
  </p:notesMasterIdLst>
  <p:sldIdLst>
    <p:sldId id="513" r:id="rId2"/>
    <p:sldId id="730" r:id="rId3"/>
    <p:sldId id="1070" r:id="rId4"/>
    <p:sldId id="880" r:id="rId5"/>
    <p:sldId id="924" r:id="rId6"/>
    <p:sldId id="1052" r:id="rId7"/>
    <p:sldId id="1054" r:id="rId8"/>
    <p:sldId id="876" r:id="rId9"/>
    <p:sldId id="925" r:id="rId10"/>
    <p:sldId id="759" r:id="rId11"/>
    <p:sldId id="1124" r:id="rId12"/>
    <p:sldId id="1178" r:id="rId13"/>
    <p:sldId id="1182" r:id="rId14"/>
    <p:sldId id="1183" r:id="rId15"/>
    <p:sldId id="1184" r:id="rId16"/>
    <p:sldId id="1185" r:id="rId17"/>
    <p:sldId id="1188" r:id="rId18"/>
    <p:sldId id="1189" r:id="rId19"/>
    <p:sldId id="1194" r:id="rId20"/>
    <p:sldId id="1195" r:id="rId21"/>
    <p:sldId id="1196" r:id="rId22"/>
    <p:sldId id="1197" r:id="rId23"/>
    <p:sldId id="1199" r:id="rId24"/>
    <p:sldId id="1201" r:id="rId25"/>
    <p:sldId id="1203" r:id="rId26"/>
    <p:sldId id="1205" r:id="rId27"/>
    <p:sldId id="1208" r:id="rId28"/>
    <p:sldId id="1210" r:id="rId29"/>
    <p:sldId id="1212" r:id="rId30"/>
    <p:sldId id="1213" r:id="rId31"/>
    <p:sldId id="1121" r:id="rId32"/>
    <p:sldId id="1044" r:id="rId33"/>
    <p:sldId id="1177" r:id="rId34"/>
    <p:sldId id="1050" r:id="rId35"/>
    <p:sldId id="291" r:id="rId36"/>
  </p:sldIdLst>
  <p:sldSz cx="9144000" cy="5143500" type="screen16x9"/>
  <p:notesSz cx="6858000" cy="9144000"/>
  <p:custDataLst>
    <p:tags r:id="rId3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4" clrIdx="3"/>
  <p:cmAuthor id="4" name="jagibbon" initials="jmg" lastIdx="3" clrIdx="4"/>
  <p:cmAuthor id="5" name="admin" initials="a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13" autoAdjust="0"/>
    <p:restoredTop sz="95388" autoAdjust="0"/>
  </p:normalViewPr>
  <p:slideViewPr>
    <p:cSldViewPr snapToGrid="0" showGuides="1">
      <p:cViewPr varScale="1">
        <p:scale>
          <a:sx n="127" d="100"/>
          <a:sy n="127" d="100"/>
        </p:scale>
        <p:origin x="533" y="82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8/27/2022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>
                <a:solidFill>
                  <a:srgbClr val="FF0000"/>
                </a:solidFill>
              </a:rPr>
              <a:t>Cisco Networking Academy Program</a:t>
            </a:r>
          </a:p>
          <a:p>
            <a:pPr>
              <a:buFontTx/>
              <a:buNone/>
            </a:pPr>
            <a:r>
              <a:rPr lang="en-US" b="0" dirty="0" err="1">
                <a:solidFill>
                  <a:srgbClr val="FF0000"/>
                </a:solidFill>
              </a:rPr>
              <a:t>CyberOps</a:t>
            </a:r>
            <a:r>
              <a:rPr lang="en-US" b="0" dirty="0">
                <a:solidFill>
                  <a:srgbClr val="FF0000"/>
                </a:solidFill>
              </a:rPr>
              <a:t> Associate v1.0</a:t>
            </a:r>
          </a:p>
          <a:p>
            <a:pPr>
              <a:buFontTx/>
              <a:buNone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17: Attacking What We 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/>
              <a:pPr algn="r"/>
              <a:t>2</a:t>
            </a:fld>
            <a:endParaRPr lang="en-US" sz="800" b="0" dirty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6771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504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ACE20BE7-F2F3-4E26-9454-50B18F790A4E}" type="slidenum">
              <a:rPr lang="en-US" sz="800" b="0">
                <a:ea typeface="ＭＳ Ｐゴシック" pitchFamily="34" charset="-128"/>
              </a:rPr>
              <a:pPr algn="r"/>
              <a:t>4</a:t>
            </a:fld>
            <a:endParaRPr lang="en-US" sz="800" b="0" dirty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0274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0A313ED8-785B-4D16-9B17-4143385249B9}" type="slidenum">
              <a:rPr lang="en-US" sz="800" b="0"/>
              <a:pPr algn="r"/>
              <a:t>5</a:t>
            </a:fld>
            <a:endParaRPr lang="en-US" sz="800" b="0" dirty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7453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391C207-9349-46D5-9D89-8ADDA5014D1F}" type="slidenum">
              <a:rPr lang="en-US" sz="800" b="0"/>
              <a:pPr algn="r"/>
              <a:t>6</a:t>
            </a:fld>
            <a:endParaRPr lang="en-US" sz="800" b="0" dirty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7969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391C207-9349-46D5-9D89-8ADDA5014D1F}" type="slidenum">
              <a:rPr lang="en-US" sz="800" b="0">
                <a:solidFill>
                  <a:prstClr val="black"/>
                </a:solidFill>
              </a:rPr>
              <a:pPr algn="r"/>
              <a:t>7</a:t>
            </a:fld>
            <a:endParaRPr lang="en-US" sz="800" b="0" dirty="0">
              <a:solidFill>
                <a:prstClr val="black"/>
              </a:solidFill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8196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>
                <a:solidFill>
                  <a:srgbClr val="FF0000"/>
                </a:solidFill>
              </a:rPr>
              <a:t>Cisco Networking Academy Program</a:t>
            </a:r>
          </a:p>
          <a:p>
            <a:pPr>
              <a:buFontTx/>
              <a:buNone/>
            </a:pPr>
            <a:r>
              <a:rPr lang="en-US" b="0" dirty="0">
                <a:solidFill>
                  <a:srgbClr val="FF0000"/>
                </a:solidFill>
              </a:rPr>
              <a:t>CyberOps Associates v1.0</a:t>
            </a:r>
          </a:p>
          <a:p>
            <a:pPr>
              <a:buFontTx/>
              <a:buNone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17: Attacking What We Do</a:t>
            </a:r>
          </a:p>
          <a:p>
            <a:pPr>
              <a:buFontTx/>
              <a:buNone/>
            </a:pPr>
            <a:r>
              <a:rPr lang="en-US" sz="1050" b="1" u="sng" dirty="0"/>
              <a:t> In-Session Activities / Explanations:</a:t>
            </a:r>
            <a:endParaRPr lang="en-US" sz="105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FF0000"/>
                </a:solidFill>
              </a:rPr>
              <a:t>Time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  <a:r>
              <a:rPr lang="en-US" sz="1000" dirty="0">
                <a:solidFill>
                  <a:srgbClr val="FF0000"/>
                </a:solidFill>
              </a:rPr>
              <a:t>5 mi</a:t>
            </a:r>
            <a:r>
              <a:rPr lang="en-US" sz="1000" dirty="0"/>
              <a:t>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Instructor Notes: </a:t>
            </a:r>
            <a:endParaRPr lang="en-US" sz="1050" dirty="0"/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Welcome the audience in a warm and cordial manner. Ensure that everyone is set up with the required resources.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Introduce the topic and encourage learners to come up with a list of expectations from the session. Collate topics on the white board or Desktop while using learner’s inputs to interpret them in words.</a:t>
            </a:r>
            <a:r>
              <a:rPr lang="en-US" sz="1000" b="1" dirty="0"/>
              <a:t> </a:t>
            </a:r>
            <a:endParaRPr lang="en-US" sz="1050" b="1" dirty="0">
              <a:solidFill>
                <a:prstClr val="black"/>
              </a:solidFill>
            </a:endParaRP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Read out the Objectives and briefly describe each.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/>
              <a:t>Key Points: </a:t>
            </a:r>
            <a:r>
              <a:rPr lang="en-US" sz="1200" b="0" i="0" dirty="0"/>
              <a:t>NA</a:t>
            </a:r>
            <a:endParaRPr lang="en-US" sz="1200" i="0" dirty="0"/>
          </a:p>
          <a:p>
            <a:pPr marL="341313" lvl="1" indent="-171450">
              <a:buFont typeface="Courier New" panose="02070309020205020404" pitchFamily="49" charset="0"/>
              <a:buChar char="o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0A313ED8-785B-4D16-9B17-4143385249B9}" type="slidenum">
              <a:rPr lang="en-US" sz="800" b="0"/>
              <a:pPr algn="r"/>
              <a:t>9</a:t>
            </a:fld>
            <a:endParaRPr lang="en-US" sz="800" b="0" dirty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17</a:t>
            </a:r>
            <a:r>
              <a:rPr lang="en-US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GB" dirty="0">
                <a:solidFill>
                  <a:srgbClr val="FF0000"/>
                </a:solidFill>
              </a:rPr>
              <a:t>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17.0</a:t>
            </a:r>
            <a:r>
              <a:rPr lang="en-US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GB" dirty="0">
                <a:solidFill>
                  <a:srgbClr val="FF0000"/>
                </a:solidFill>
              </a:rPr>
              <a:t>– Introduction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FF0000"/>
                </a:solidFill>
              </a:rPr>
              <a:t>17.0.2 – What will I learn to do in this module?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7924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/>
              <a:t>Source: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17</a:t>
            </a:r>
            <a:r>
              <a:rPr lang="en-US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17.1 - IP Services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050" b="1" u="sng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050" b="1" u="sng" dirty="0"/>
              <a:t>In-Session Activities / Explanations:</a:t>
            </a:r>
            <a:endParaRPr lang="en-US" sz="105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FF0000"/>
                </a:solidFill>
              </a:rPr>
              <a:t>Time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  <a:r>
              <a:rPr lang="en-US" sz="1000" b="0" dirty="0">
                <a:solidFill>
                  <a:srgbClr val="FF0000"/>
                </a:solidFill>
              </a:rPr>
              <a:t>10</a:t>
            </a:r>
            <a:r>
              <a:rPr lang="en-US" sz="1000" dirty="0">
                <a:solidFill>
                  <a:srgbClr val="FF0000"/>
                </a:solidFill>
              </a:rPr>
              <a:t> mi</a:t>
            </a:r>
            <a:r>
              <a:rPr lang="en-US" sz="1000" dirty="0"/>
              <a:t>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Instructor Notes: </a:t>
            </a:r>
            <a:endParaRPr lang="en-US" sz="1050" dirty="0"/>
          </a:p>
          <a:p>
            <a:pPr marL="341313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aseline="0" dirty="0"/>
              <a:t>Discuss ARP Vulnerabilities</a:t>
            </a:r>
          </a:p>
          <a:p>
            <a:pPr marL="341313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aseline="0" dirty="0"/>
              <a:t>Describe the DNS attacks along with its malicious activities.</a:t>
            </a:r>
          </a:p>
          <a:p>
            <a:pPr marL="341313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aseline="0" dirty="0"/>
              <a:t>Define the ARP Cache Poisoning process</a:t>
            </a:r>
          </a:p>
          <a:p>
            <a:pPr marL="341313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aseline="0" dirty="0"/>
              <a:t>Explain DHCP</a:t>
            </a:r>
          </a:p>
          <a:p>
            <a:pPr marL="341313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aseline="0" dirty="0"/>
              <a:t>Walk the learners through the DHCP spoofing attack.</a:t>
            </a:r>
          </a:p>
          <a:p>
            <a:pPr marL="341313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aseline="0" dirty="0"/>
              <a:t>At</a:t>
            </a:r>
            <a:r>
              <a:rPr lang="en-US" sz="800" dirty="0"/>
              <a:t> the end of the topic, enquire ho</a:t>
            </a:r>
            <a:r>
              <a:rPr lang="en-US" sz="105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 the learners have performed during the </a:t>
            </a:r>
            <a:r>
              <a:rPr lang="en-US" sz="1050" dirty="0"/>
              <a:t>Exploring DNS Traffic Lab.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1" dirty="0"/>
              <a:t>Key Points: </a:t>
            </a:r>
            <a:r>
              <a:rPr lang="en-US" sz="1050" b="0" dirty="0"/>
              <a:t>ARP Vulnerabilities , ARP Cache Poisoning, ARP</a:t>
            </a:r>
            <a:r>
              <a:rPr lang="en-US" sz="1050" b="0" baseline="0" dirty="0"/>
              <a:t> Request , ARP Reply, DNS Attacks , DHCP , DHCP spoofing attacks.</a:t>
            </a:r>
            <a:endParaRPr lang="en-US" sz="1050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11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 Services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.1.1 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ARP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12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 Services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.1.2 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ARP Cache Poisoning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13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 Services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.1.3 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 Attacks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14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 Services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.1.3 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 Attacks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15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 Services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.1.3 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 Attacks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16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 Services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.1.4 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 Tunneling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17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 Services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.1.5 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DHCP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18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 Services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.1.6 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DHCP Attacks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19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 Services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.1.7 – Lab –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Exploring DNS Traffic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/>
              <a:t>Source: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17</a:t>
            </a:r>
            <a:r>
              <a:rPr lang="en-US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17.2 -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 and HTTPS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050" b="1" u="sng" dirty="0"/>
              <a:t>In-Session Activities / Explanations:</a:t>
            </a:r>
            <a:endParaRPr lang="en-US" sz="105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FF0000"/>
                </a:solidFill>
              </a:rPr>
              <a:t>Time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Instructor Notes: </a:t>
            </a:r>
            <a:endParaRPr lang="en-US" sz="1050" dirty="0"/>
          </a:p>
          <a:p>
            <a:pPr marL="341313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aseline="0" dirty="0"/>
              <a:t>List the stages of a web attack.</a:t>
            </a:r>
          </a:p>
          <a:p>
            <a:pPr marL="341313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aseline="0" dirty="0"/>
              <a:t>Explain the common HTTP exploits and the prevention mechanism.</a:t>
            </a:r>
          </a:p>
          <a:p>
            <a:pPr marL="341313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aseline="0" dirty="0"/>
              <a:t>Discuss email threats.</a:t>
            </a:r>
          </a:p>
          <a:p>
            <a:pPr marL="341313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aseline="0" dirty="0"/>
              <a:t>Describe code Injection and SQL Injection.</a:t>
            </a:r>
          </a:p>
          <a:p>
            <a:pPr marL="341313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aseline="0" dirty="0"/>
              <a:t>Explain cross-site scripting (XSS) and ways to reduce XSS attacks.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1" dirty="0"/>
              <a:t>Key Points: </a:t>
            </a:r>
            <a:r>
              <a:rPr lang="en-US" sz="1050" b="0" dirty="0"/>
              <a:t>Web attacks , connection status</a:t>
            </a:r>
            <a:r>
              <a:rPr lang="en-US" sz="1050" b="0" baseline="0" dirty="0"/>
              <a:t> codes, email threats, malicious </a:t>
            </a:r>
            <a:r>
              <a:rPr lang="en-US" sz="1050" b="0" baseline="0" dirty="0" err="1"/>
              <a:t>iFrame</a:t>
            </a:r>
            <a:r>
              <a:rPr lang="en-US" sz="1050" b="0" baseline="0" dirty="0"/>
              <a:t>, code injection, SQL injection, cross- site scripting.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21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 – </a:t>
            </a:r>
            <a:r>
              <a:rPr lang="en-US" sz="1200" dirty="0"/>
              <a:t>Enterprise Services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17.2.1 - </a:t>
            </a:r>
            <a:r>
              <a:rPr lang="en-US" dirty="0"/>
              <a:t>HTTP and HTTPS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22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 – </a:t>
            </a:r>
            <a:r>
              <a:rPr lang="en-US" sz="1200" dirty="0"/>
              <a:t>Enterprise Services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17.2.1 - </a:t>
            </a:r>
            <a:r>
              <a:rPr lang="en-US"/>
              <a:t>HTTP and HTTPS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23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 – </a:t>
            </a:r>
            <a:r>
              <a:rPr lang="en-US" sz="1200" dirty="0"/>
              <a:t>Enterprise Services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17.2.2 -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 HTTP Exploits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24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 – </a:t>
            </a:r>
            <a:r>
              <a:rPr lang="en-US" sz="1200" dirty="0"/>
              <a:t>Enterprise Services</a:t>
            </a:r>
          </a:p>
          <a:p>
            <a:r>
              <a:rPr lang="en-US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17.2.2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 HTTP Exploits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25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 – </a:t>
            </a:r>
            <a:r>
              <a:rPr lang="en-US" sz="1200" dirty="0"/>
              <a:t>Enterprise Services</a:t>
            </a:r>
          </a:p>
          <a:p>
            <a:r>
              <a:rPr lang="en-US" sz="1200" kern="1200" baseline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17.2.2 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 HTTP Exploits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26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 – </a:t>
            </a:r>
            <a:r>
              <a:rPr lang="en-US" sz="1200" dirty="0"/>
              <a:t>Enterprise Services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17.2.3 -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27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 – </a:t>
            </a:r>
            <a:r>
              <a:rPr lang="en-US" sz="1200" dirty="0"/>
              <a:t>Enterprise Services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17.2.4 -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Web-Exposed Databases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28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 – </a:t>
            </a:r>
            <a:r>
              <a:rPr lang="en-US" sz="1200" dirty="0"/>
              <a:t>Enterprise Services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17.2.5 - </a:t>
            </a:r>
            <a:r>
              <a:rPr lang="en-US" sz="1200" dirty="0"/>
              <a:t>Client-side Scripting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29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 – </a:t>
            </a:r>
            <a:r>
              <a:rPr lang="en-US" sz="1200" dirty="0"/>
              <a:t>Enterprise Services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17.2.6 – Lab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Attacking a MySQL Database</a:t>
            </a: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30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 – </a:t>
            </a:r>
            <a:r>
              <a:rPr lang="en-US" sz="1200" dirty="0"/>
              <a:t>Enterprise Services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17.2.7 – Lab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Reading Server Logs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17.2.8 - Check Your Understanding – Network Services Attacks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17 -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17.3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 Practice and Quiz</a:t>
            </a:r>
          </a:p>
          <a:p>
            <a:r>
              <a:rPr lang="en-US" sz="1050" b="1" u="sng" dirty="0"/>
              <a:t>In-Session Activities / Explanations:</a:t>
            </a:r>
            <a:endParaRPr lang="en-US" sz="105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FF0000"/>
                </a:solidFill>
              </a:rPr>
              <a:t>Time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  <a:r>
              <a:rPr lang="en-US" sz="1000" b="0" dirty="0">
                <a:solidFill>
                  <a:srgbClr val="FF0000"/>
                </a:solidFill>
              </a:rPr>
              <a:t>5</a:t>
            </a:r>
            <a:r>
              <a:rPr lang="en-US" sz="1000" dirty="0">
                <a:solidFill>
                  <a:srgbClr val="FF0000"/>
                </a:solidFill>
              </a:rPr>
              <a:t> mi</a:t>
            </a:r>
            <a:r>
              <a:rPr lang="en-US" sz="1000" dirty="0"/>
              <a:t>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Instructor Notes: </a:t>
            </a:r>
            <a:endParaRPr lang="en-US" sz="1050" dirty="0"/>
          </a:p>
          <a:p>
            <a:pPr marL="341313" lvl="1" indent="-171450" algn="l" defTabSz="457200" rtl="0" eaLnBrk="1" latinLnBrk="0" hangingPunct="1">
              <a:buFont typeface="Arial" panose="020B0604020202020204" pitchFamily="34" charset="0"/>
              <a:buChar char="•"/>
              <a:tabLst>
                <a:tab pos="117475" algn="l"/>
              </a:tabLst>
            </a:pPr>
            <a:r>
              <a: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 out the summary points mentioned on the slide.</a:t>
            </a:r>
          </a:p>
          <a:p>
            <a:pPr marL="341313" lvl="1" indent="-171450" algn="l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Discuss the same with the participants.</a:t>
            </a:r>
          </a:p>
          <a:p>
            <a:pPr marL="341313" lvl="1" indent="-171450" algn="l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Ask if they have any questions or doubts. </a:t>
            </a:r>
          </a:p>
          <a:p>
            <a:pPr marL="341313" lvl="1" indent="-171450" algn="l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the end,ask the students how they done in the quiz.</a:t>
            </a:r>
            <a:endParaRPr lang="en-US" sz="105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050" b="1" dirty="0"/>
              <a:t>Key Points:</a:t>
            </a:r>
            <a:r>
              <a:rPr lang="en-US" sz="1100" b="1" dirty="0"/>
              <a:t>  </a:t>
            </a:r>
            <a:r>
              <a:rPr lang="en-US" sz="1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Protocols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17.3 – Attacking What We Do Summary</a:t>
            </a:r>
          </a:p>
          <a:p>
            <a: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17.3.1</a:t>
            </a:r>
            <a:r>
              <a:rPr lang="en-US" baseline="0" dirty="0"/>
              <a:t>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did I learn in this module?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6941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17.3 – Attacking What We Do Summary</a:t>
            </a:r>
          </a:p>
          <a:p>
            <a: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17.3.1</a:t>
            </a:r>
            <a:r>
              <a:rPr lang="en-US" baseline="0" dirty="0"/>
              <a:t>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did I learn in this module?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17.3.2 - 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 17: Attacking What We Do Quiz</a:t>
            </a:r>
          </a:p>
          <a:p>
            <a:b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6941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34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17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Attacking What We Do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New Terms and Commands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090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793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053829"/>
            <a:ext cx="7507184" cy="1666626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17:Attacking What We Do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Instructor Materials</a:t>
            </a:r>
          </a:p>
        </p:txBody>
      </p:sp>
      <p:sp>
        <p:nvSpPr>
          <p:cNvPr id="10" name="Subtitle 6">
            <a:extLst>
              <a:ext uri="{FF2B5EF4-FFF2-40B4-BE49-F238E27FC236}">
                <a16:creationId xmlns:a16="http://schemas.microsoft.com/office/drawing/2014/main" id="{04FD2489-00FA-4598-BB9B-1B5ABC733DAB}"/>
              </a:ext>
            </a:extLst>
          </p:cNvPr>
          <p:cNvSpPr txBox="1">
            <a:spLocks/>
          </p:cNvSpPr>
          <p:nvPr/>
        </p:nvSpPr>
        <p:spPr>
          <a:xfrm>
            <a:off x="469497" y="3809526"/>
            <a:ext cx="2368954" cy="902174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 defTabSz="684213" rtl="0" eaLnBrk="1" fontAlgn="base" hangingPunct="1">
              <a:lnSpc>
                <a:spcPct val="95000"/>
              </a:lnSpc>
              <a:spcBef>
                <a:spcPts val="1075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charset="0"/>
              <a:buNone/>
              <a:defRPr lang="en-US" sz="1200" b="0" i="0" kern="1200">
                <a:solidFill>
                  <a:schemeClr val="accent5"/>
                </a:solidFill>
                <a:latin typeface="+mn-lt"/>
                <a:ea typeface="ＭＳ Ｐゴシック" charset="0"/>
                <a:cs typeface="CiscoSans"/>
              </a:defRPr>
            </a:lvl1pPr>
            <a:lvl2pPr marL="342856" indent="0" algn="ctr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None/>
              <a:defRPr lang="en-US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2pPr>
            <a:lvl3pPr marL="685720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3pPr>
            <a:lvl4pPr marL="1028579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4pPr>
            <a:lvl5pPr marL="1371441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5pPr>
            <a:lvl6pPr marL="1714297" indent="0" algn="ctr" defTabSz="685777" rtl="0" eaLnBrk="1" latinLnBrk="0" hangingPunct="1">
              <a:spcBef>
                <a:spcPts val="600"/>
              </a:spcBef>
              <a:buFont typeface="Arial" pitchFamily="34" charset="0"/>
              <a:buNone/>
              <a:defRPr sz="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161" indent="0" algn="ctr" defTabSz="685777" rtl="0" eaLnBrk="1" latinLnBrk="0" hangingPunct="1">
              <a:spcBef>
                <a:spcPts val="600"/>
              </a:spcBef>
              <a:buFont typeface="Arial" pitchFamily="34" charset="0"/>
              <a:buNone/>
              <a:defRPr sz="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020" indent="0" algn="ctr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2882" indent="0" algn="ctr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CyberOps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 Associate v1.0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"/>
          <p:cNvSpPr>
            <a:spLocks noGrp="1" noChangeArrowheads="1"/>
          </p:cNvSpPr>
          <p:nvPr>
            <p:ph type="title"/>
          </p:nvPr>
        </p:nvSpPr>
        <p:spPr>
          <a:xfrm>
            <a:off x="1" y="50629"/>
            <a:ext cx="9144000" cy="757551"/>
          </a:xfrm>
        </p:spPr>
        <p:txBody>
          <a:bodyPr/>
          <a:lstStyle/>
          <a:p>
            <a:r>
              <a:rPr lang="en-US" dirty="0"/>
              <a:t>Instructor Materials – Module 17 Planning Guide</a:t>
            </a:r>
          </a:p>
        </p:txBody>
      </p:sp>
      <p:sp>
        <p:nvSpPr>
          <p:cNvPr id="4099" name="Content Placeholder"/>
          <p:cNvSpPr>
            <a:spLocks noGrp="1" noChangeArrowheads="1"/>
          </p:cNvSpPr>
          <p:nvPr>
            <p:ph idx="1"/>
          </p:nvPr>
        </p:nvSpPr>
        <p:spPr>
          <a:xfrm>
            <a:off x="144065" y="798944"/>
            <a:ext cx="8853286" cy="3747655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This PowerPoint deck is divided in two parts: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Instructor Planning Guide</a:t>
            </a:r>
            <a:endParaRPr lang="en-CA" dirty="0">
              <a:solidFill>
                <a:srgbClr val="FF0000"/>
              </a:solidFill>
            </a:endParaRPr>
          </a:p>
          <a:p>
            <a:pPr lvl="1"/>
            <a:r>
              <a:rPr lang="en-CA" dirty="0"/>
              <a:t>Information to help you become familiar with the module</a:t>
            </a:r>
          </a:p>
          <a:p>
            <a:pPr lvl="1"/>
            <a:r>
              <a:rPr lang="en-CA" dirty="0"/>
              <a:t>Teaching aids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Instructor Class Presentation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Optional slides that you can use in the classroom</a:t>
            </a:r>
          </a:p>
          <a:p>
            <a:pPr lvl="1"/>
            <a:r>
              <a:rPr lang="en-CA" dirty="0"/>
              <a:t>Begins on slide # 8</a:t>
            </a:r>
          </a:p>
          <a:p>
            <a:pPr marL="142875" lvl="1" indent="0">
              <a:buNone/>
            </a:pPr>
            <a:r>
              <a:rPr lang="en-CA" sz="1600" b="1" dirty="0"/>
              <a:t>Note</a:t>
            </a:r>
            <a:r>
              <a:rPr lang="en-CA" sz="1600" dirty="0"/>
              <a:t>: Please remove the Planning Guide from this presentation before sharing with anyone.</a:t>
            </a:r>
          </a:p>
          <a:p>
            <a:pPr marL="0" indent="0">
              <a:buNone/>
            </a:pPr>
            <a:r>
              <a:rPr lang="en-CA" sz="1600" b="1" dirty="0">
                <a:solidFill>
                  <a:schemeClr val="accent4"/>
                </a:solidFill>
              </a:rPr>
              <a:t>For additional help and resources</a:t>
            </a:r>
            <a:r>
              <a:rPr lang="en-CA" sz="1600" b="1" dirty="0">
                <a:solidFill>
                  <a:srgbClr val="FF0000"/>
                </a:solidFill>
              </a:rPr>
              <a:t>, </a:t>
            </a:r>
            <a:r>
              <a:rPr lang="en-CA" sz="1600" b="1" dirty="0">
                <a:solidFill>
                  <a:schemeClr val="accent4"/>
                </a:solidFill>
              </a:rPr>
              <a:t>go to the Instructor Home Page and Course Resources for this course. </a:t>
            </a:r>
            <a:r>
              <a:rPr lang="en-US" sz="1600" b="1" dirty="0">
                <a:solidFill>
                  <a:schemeClr val="accent4"/>
                </a:solidFill>
              </a:rPr>
              <a:t>You also can visit the professional development site on www.netacad.com, the official Cisco Networking Academy Facebook page, or Instructor Only FB group.</a:t>
            </a:r>
            <a:endParaRPr lang="en-CA" sz="1600" b="1" dirty="0">
              <a:solidFill>
                <a:schemeClr val="accent4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958195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DBD329-AB20-664C-9697-486FE5CE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9238"/>
            <a:ext cx="9144000" cy="609708"/>
          </a:xfrm>
        </p:spPr>
        <p:txBody>
          <a:bodyPr/>
          <a:lstStyle/>
          <a:p>
            <a:r>
              <a:rPr lang="en-US" dirty="0"/>
              <a:t>What to Expect in this Module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EDE137-350D-6D47-BD51-750CD1983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65" y="798945"/>
            <a:ext cx="8853286" cy="3463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 facilitate learning, the following features within the GUI may be included in this module: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EE699F-A87C-2246-9235-C1DFDF6B2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621581"/>
              </p:ext>
            </p:extLst>
          </p:nvPr>
        </p:nvGraphicFramePr>
        <p:xfrm>
          <a:off x="301658" y="1145310"/>
          <a:ext cx="8557528" cy="22271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558">
                  <a:extLst>
                    <a:ext uri="{9D8B030D-6E8A-4147-A177-3AD203B41FA5}">
                      <a16:colId xmlns:a16="http://schemas.microsoft.com/office/drawing/2014/main" val="200107645"/>
                    </a:ext>
                  </a:extLst>
                </a:gridCol>
                <a:gridCol w="6416970">
                  <a:extLst>
                    <a:ext uri="{9D8B030D-6E8A-4147-A177-3AD203B41FA5}">
                      <a16:colId xmlns:a16="http://schemas.microsoft.com/office/drawing/2014/main" val="2648404099"/>
                    </a:ext>
                  </a:extLst>
                </a:gridCol>
              </a:tblGrid>
              <a:tr h="2650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10602"/>
                  </a:ext>
                </a:extLst>
              </a:tr>
              <a:tr h="3315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Hands-On Labs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Labs designed for working with physical equipment.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5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Animations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Expose learners to new skills and concepts.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8835149"/>
                  </a:ext>
                </a:extLst>
              </a:tr>
              <a:tr h="178145">
                <a:tc>
                  <a:txBody>
                    <a:bodyPr/>
                    <a:lstStyle/>
                    <a:p>
                      <a:pPr marL="0" algn="l" defTabSz="685777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Your Understanding (CYU)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 topic online quiz to help learners gauge content understanding.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14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Module Quizzes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Self-assessments that integrate concepts and skills learned throughout the series of topics presented in the module.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14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Module Summary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Briefly recaps module content.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215396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Check Your Understanding</a:t>
            </a:r>
          </a:p>
        </p:txBody>
      </p:sp>
      <p:sp>
        <p:nvSpPr>
          <p:cNvPr id="7171" name="Content Placeholder 1"/>
          <p:cNvSpPr>
            <a:spLocks noGrp="1" noChangeArrowheads="1"/>
          </p:cNvSpPr>
          <p:nvPr>
            <p:ph idx="1"/>
          </p:nvPr>
        </p:nvSpPr>
        <p:spPr>
          <a:xfrm>
            <a:off x="145357" y="965201"/>
            <a:ext cx="8878570" cy="3643747"/>
          </a:xfrm>
        </p:spPr>
        <p:txBody>
          <a:bodyPr/>
          <a:lstStyle/>
          <a:p>
            <a:pPr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Check Your Understanding activities are designed to let students quickly determine if they understand the content and can proceed, or if they need to review. </a:t>
            </a:r>
          </a:p>
          <a:p>
            <a:pPr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Check Your Understanding activities </a:t>
            </a:r>
            <a:r>
              <a:rPr lang="en-US" sz="1600" b="1" i="1" dirty="0"/>
              <a:t>do not </a:t>
            </a:r>
            <a:r>
              <a:rPr lang="en-US" sz="1600" dirty="0"/>
              <a:t>affect student grades.</a:t>
            </a:r>
          </a:p>
          <a:p>
            <a:pPr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There are no separate slides for these activities in the PPT. They are listed in the notes area of the slide that appears before these activities.</a:t>
            </a:r>
          </a:p>
          <a:p>
            <a:pPr marL="0" indent="0" eaLnBrk="1" hangingPunct="1">
              <a:spcBef>
                <a:spcPct val="30000"/>
              </a:spcBef>
              <a:buNone/>
            </a:pPr>
            <a:endParaRPr lang="en-US" sz="1600" dirty="0"/>
          </a:p>
          <a:p>
            <a:pPr eaLnBrk="1" hangingPunct="1">
              <a:spcBef>
                <a:spcPct val="30000"/>
              </a:spcBef>
            </a:pP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335752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9144000" cy="568207"/>
          </a:xfrm>
        </p:spPr>
        <p:txBody>
          <a:bodyPr/>
          <a:lstStyle/>
          <a:p>
            <a:pPr eaLnBrk="1" hangingPunct="1"/>
            <a:r>
              <a:rPr lang="en-US" dirty="0"/>
              <a:t>Module 17: Activities</a:t>
            </a:r>
          </a:p>
        </p:txBody>
      </p:sp>
      <p:sp>
        <p:nvSpPr>
          <p:cNvPr id="6147" name="Content Placeholder 1"/>
          <p:cNvSpPr>
            <a:spLocks noGrp="1" noChangeArrowheads="1"/>
          </p:cNvSpPr>
          <p:nvPr>
            <p:ph idx="1"/>
          </p:nvPr>
        </p:nvSpPr>
        <p:spPr>
          <a:xfrm>
            <a:off x="136631" y="609600"/>
            <a:ext cx="8695135" cy="348414"/>
          </a:xfrm>
        </p:spPr>
        <p:txBody>
          <a:bodyPr/>
          <a:lstStyle/>
          <a:p>
            <a:pPr marL="0" indent="0">
              <a:spcBef>
                <a:spcPct val="30000"/>
              </a:spcBef>
              <a:buNone/>
            </a:pPr>
            <a:r>
              <a:rPr lang="en-US" dirty="0"/>
              <a:t>What activities are associated with this module?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8E0D7341-0652-46A5-A6D2-B3043B81A1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0532763"/>
              </p:ext>
            </p:extLst>
          </p:nvPr>
        </p:nvGraphicFramePr>
        <p:xfrm>
          <a:off x="260853" y="1096817"/>
          <a:ext cx="8229418" cy="1433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0480">
                  <a:extLst>
                    <a:ext uri="{9D8B030D-6E8A-4147-A177-3AD203B41FA5}">
                      <a16:colId xmlns:a16="http://schemas.microsoft.com/office/drawing/2014/main" val="3156509146"/>
                    </a:ext>
                  </a:extLst>
                </a:gridCol>
                <a:gridCol w="3497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149">
                <a:tc>
                  <a:txBody>
                    <a:bodyPr/>
                    <a:lstStyle/>
                    <a:p>
                      <a:pPr marL="0" marR="0" lvl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Page #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Activity Type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Activity Name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Optional?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070"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17.1.1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Animation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ARP Vulnerabilities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Recommended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139"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17.1.7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Lab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Exploring DNS Traffic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Recommended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630"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17.2.6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Lab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Attacking a MySQL Database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Recommended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79"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17.2.7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Lab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Reading Server Logs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Recommended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7596"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17.2.8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 Your Understanding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Services Attacks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Recommended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9465384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17: Best Practices</a:t>
            </a:r>
          </a:p>
        </p:txBody>
      </p:sp>
      <p:sp>
        <p:nvSpPr>
          <p:cNvPr id="1126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44065" y="798945"/>
            <a:ext cx="8853286" cy="3909242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r>
              <a:rPr lang="en-US" sz="1600" dirty="0"/>
              <a:t>Prior to teaching Module 17, the instructor should:</a:t>
            </a:r>
          </a:p>
          <a:p>
            <a:pPr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Review the activities and assessments for this module.</a:t>
            </a:r>
          </a:p>
          <a:p>
            <a:pPr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Try to include as many questions as possible to keep students engaged during classroom presentation.</a:t>
            </a:r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sz="1600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r>
              <a:rPr lang="en-US" sz="1600" dirty="0"/>
              <a:t>Topic 17.1</a:t>
            </a:r>
          </a:p>
          <a:p>
            <a:pPr marL="557213" lvl="4" indent="-171450" defTabSz="45720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</a:rPr>
              <a:t>Provide an overview of ARP</a:t>
            </a:r>
          </a:p>
          <a:p>
            <a:pPr marL="557213" lvl="4" indent="-171450" defTabSz="45720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</a:rPr>
              <a:t>Play an animation to demonstrate the ARP process</a:t>
            </a:r>
          </a:p>
          <a:p>
            <a:pPr marL="557213" lvl="4" indent="-171450" defTabSz="45720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</a:rPr>
              <a:t>Explain ARP Cache Poisoning with example</a:t>
            </a:r>
            <a:endParaRPr lang="en-US" sz="1600" dirty="0"/>
          </a:p>
          <a:p>
            <a:pPr marL="557213" lvl="4" indent="-171450" defTabSz="45720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</a:rPr>
              <a:t>Ask the learners if they are aware of DNS attacks.</a:t>
            </a:r>
          </a:p>
          <a:p>
            <a:pPr marL="385763" lvl="4" indent="0" defTabSz="457200" fontAlgn="auto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976613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17: Best Practices</a:t>
            </a:r>
          </a:p>
        </p:txBody>
      </p:sp>
      <p:sp>
        <p:nvSpPr>
          <p:cNvPr id="1126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45358" y="798944"/>
            <a:ext cx="8853286" cy="3832691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r>
              <a:rPr lang="en-US" altLang="ja-JP" sz="1600" dirty="0"/>
              <a:t>Topic 17.2</a:t>
            </a:r>
          </a:p>
          <a:p>
            <a:pPr marL="285750" lvl="1" indent="-285750">
              <a:lnSpc>
                <a:spcPct val="85000"/>
              </a:lnSpc>
              <a:spcBef>
                <a:spcPct val="30000"/>
              </a:spcBef>
              <a:spcAft>
                <a:spcPts val="600"/>
              </a:spcAft>
              <a:buSzPct val="100000"/>
            </a:pPr>
            <a:r>
              <a:rPr lang="en-US" sz="1600" dirty="0"/>
              <a:t>Demonstrate a short video to the learners on web attack and then explain the concept.</a:t>
            </a:r>
          </a:p>
          <a:p>
            <a:pPr marL="285750" lvl="1" indent="-285750">
              <a:lnSpc>
                <a:spcPct val="85000"/>
              </a:lnSpc>
              <a:spcBef>
                <a:spcPct val="30000"/>
              </a:spcBef>
              <a:spcAft>
                <a:spcPts val="600"/>
              </a:spcAft>
              <a:buSzPct val="100000"/>
            </a:pPr>
            <a:r>
              <a:rPr lang="en-US" sz="1600" dirty="0"/>
              <a:t>Discuss Malicious </a:t>
            </a:r>
            <a:r>
              <a:rPr lang="en-US" sz="1600" dirty="0" err="1"/>
              <a:t>iFrames</a:t>
            </a:r>
            <a:r>
              <a:rPr lang="en-US" sz="1600" dirty="0"/>
              <a:t> and its prevention.</a:t>
            </a:r>
          </a:p>
          <a:p>
            <a:pPr marL="285750" lvl="1" indent="-285750">
              <a:lnSpc>
                <a:spcPct val="85000"/>
              </a:lnSpc>
              <a:spcBef>
                <a:spcPct val="30000"/>
              </a:spcBef>
              <a:spcAft>
                <a:spcPts val="600"/>
              </a:spcAft>
              <a:buSzPct val="100000"/>
            </a:pPr>
            <a:r>
              <a:rPr lang="en-US" sz="1600" dirty="0"/>
              <a:t>Explain HTTP 302 Cushioning and then ask the class to brainstorm on the preventive measures that can be taken to avoid these malicious attacks.</a:t>
            </a:r>
          </a:p>
          <a:p>
            <a:pPr marL="285750" lvl="1" indent="-285750">
              <a:lnSpc>
                <a:spcPct val="85000"/>
              </a:lnSpc>
              <a:spcBef>
                <a:spcPct val="30000"/>
              </a:spcBef>
              <a:spcAft>
                <a:spcPts val="600"/>
              </a:spcAft>
              <a:buSzPct val="100000"/>
            </a:pPr>
            <a:r>
              <a:rPr lang="en-US" sz="1600" dirty="0"/>
              <a:t>Define Domain Shadowing.</a:t>
            </a:r>
          </a:p>
          <a:p>
            <a:pPr marL="285750" lvl="1" indent="-285750">
              <a:lnSpc>
                <a:spcPct val="85000"/>
              </a:lnSpc>
              <a:spcBef>
                <a:spcPct val="30000"/>
              </a:spcBef>
              <a:spcAft>
                <a:spcPts val="600"/>
              </a:spcAft>
              <a:buSzPct val="100000"/>
            </a:pPr>
            <a:r>
              <a:rPr lang="en-US" sz="1600" dirty="0"/>
              <a:t>Explain how threat actors use code injection and SQL injection attacks.</a:t>
            </a:r>
          </a:p>
          <a:p>
            <a:pPr marL="285750" lvl="1" indent="-285750">
              <a:lnSpc>
                <a:spcPct val="85000"/>
              </a:lnSpc>
              <a:spcBef>
                <a:spcPct val="30000"/>
              </a:spcBef>
              <a:spcAft>
                <a:spcPts val="600"/>
              </a:spcAft>
              <a:buSzPct val="100000"/>
            </a:pP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198685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79224" y="1252120"/>
            <a:ext cx="7254265" cy="1508188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17:Attacking What We Do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CyberOps  Associates v1.0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12812"/>
          </a:xfrm>
        </p:spPr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614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9461" y="654206"/>
            <a:ext cx="8731272" cy="827461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Module Title: </a:t>
            </a:r>
            <a:r>
              <a:rPr lang="en-US" sz="1600" dirty="0"/>
              <a:t>Attacking What We Do</a:t>
            </a:r>
          </a:p>
          <a:p>
            <a:pPr marL="0" indent="0">
              <a:buNone/>
            </a:pPr>
            <a:r>
              <a:rPr lang="en-US" sz="1600" b="1" dirty="0"/>
              <a:t>Module Objective</a:t>
            </a:r>
            <a:r>
              <a:rPr lang="en-US" sz="1600" dirty="0"/>
              <a:t>: Explain how common network applications and services are vulnerable to attack.</a:t>
            </a:r>
          </a:p>
          <a:p>
            <a:pPr marL="375047" indent="-285750">
              <a:spcBef>
                <a:spcPct val="30000"/>
              </a:spcBef>
              <a:buFont typeface="Arial" pitchFamily="34" charset="0"/>
              <a:buChar char="•"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390913"/>
              </p:ext>
            </p:extLst>
          </p:nvPr>
        </p:nvGraphicFramePr>
        <p:xfrm>
          <a:off x="374695" y="1916950"/>
          <a:ext cx="8263467" cy="9258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9322">
                  <a:extLst>
                    <a:ext uri="{9D8B030D-6E8A-4147-A177-3AD203B41FA5}">
                      <a16:colId xmlns:a16="http://schemas.microsoft.com/office/drawing/2014/main" val="399010295"/>
                    </a:ext>
                  </a:extLst>
                </a:gridCol>
                <a:gridCol w="5924145">
                  <a:extLst>
                    <a:ext uri="{9D8B030D-6E8A-4147-A177-3AD203B41FA5}">
                      <a16:colId xmlns:a16="http://schemas.microsoft.com/office/drawing/2014/main" val="3417728144"/>
                    </a:ext>
                  </a:extLst>
                </a:gridCol>
              </a:tblGrid>
              <a:tr h="273509"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Topic Title</a:t>
                      </a:r>
                      <a:endParaRPr lang="en-US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Topic Objective</a:t>
                      </a:r>
                      <a:endParaRPr lang="en-US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64302898"/>
                  </a:ext>
                </a:extLst>
              </a:tr>
              <a:tr h="290823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>
                          <a:effectLst/>
                        </a:rPr>
                        <a:t>IP Services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>
                          <a:effectLst/>
                        </a:rPr>
                        <a:t>Explain IP service vulnerabilities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530891527"/>
                  </a:ext>
                </a:extLst>
              </a:tr>
              <a:tr h="154701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>
                          <a:effectLst/>
                        </a:rPr>
                        <a:t>Enterprise </a:t>
                      </a:r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Services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>
                          <a:effectLst/>
                        </a:rPr>
                        <a:t>Explain how network application vulnerabilities enable network attacks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66289294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8189466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7992" y="1104253"/>
            <a:ext cx="715617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17.1 IP Services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51334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Attacking What We Do</a:t>
            </a:r>
          </a:p>
          <a:p>
            <a:r>
              <a:rPr lang="en-US" dirty="0"/>
              <a:t>ARP Vulnerabilities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6" y="780837"/>
            <a:ext cx="4102010" cy="3880061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IN" sz="1600" dirty="0"/>
              <a:t>Hosts broadcast an ARP Request to other hosts on the network segment to determine the MAC address of a host with a particular IP address.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The host with the matching IP address in the ARP Request sends an ARP Reply called “gratuitous ARP.”</a:t>
            </a:r>
          </a:p>
          <a:p>
            <a:pPr>
              <a:buFont typeface="Arial" pitchFamily="34" charset="0"/>
              <a:buChar char="•"/>
            </a:pPr>
            <a:r>
              <a:rPr lang="en-IN" sz="1600" dirty="0"/>
              <a:t>A threat actor can poison the ARP cache of devices on the local network</a:t>
            </a:r>
          </a:p>
          <a:p>
            <a:pPr>
              <a:buFont typeface="Arial" pitchFamily="34" charset="0"/>
              <a:buChar char="•"/>
            </a:pPr>
            <a:r>
              <a:rPr lang="en-IN" sz="1600" dirty="0"/>
              <a:t>The goal is to associate the threat actor’s MAC address with the IP address of the default gateway in the ARP caches of hosts on the LAN segment. </a:t>
            </a:r>
            <a:br>
              <a:rPr lang="en-IN" sz="1600" dirty="0"/>
            </a:br>
            <a:endParaRPr lang="en-US" sz="1600" dirty="0"/>
          </a:p>
          <a:p>
            <a:pPr>
              <a:buFont typeface="Arial" pitchFamily="34" charset="0"/>
              <a:buChar char="•"/>
            </a:pPr>
            <a:endParaRPr 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555" y="1514386"/>
            <a:ext cx="4805363" cy="309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205555" y="1164931"/>
            <a:ext cx="4938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</a:rPr>
              <a:t>Play the animation to see the ARP process at work.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9916288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Attacking What We Do</a:t>
            </a:r>
          </a:p>
          <a:p>
            <a:r>
              <a:rPr lang="en-US" dirty="0"/>
              <a:t>ARP Cache Poisoning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4" y="853262"/>
            <a:ext cx="8494097" cy="685827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1600" dirty="0"/>
              <a:t>ARP cache poisoning can be used to launch various man-in-the-middle attacks.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ARP cache poisoning process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82202" y="1611519"/>
            <a:ext cx="2599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ARP Request</a:t>
            </a:r>
          </a:p>
        </p:txBody>
      </p:sp>
      <p:pic>
        <p:nvPicPr>
          <p:cNvPr id="2050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02" y="1977433"/>
            <a:ext cx="2599068" cy="1877104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1" name="TextBox 2"/>
          <p:cNvSpPr txBox="1"/>
          <p:nvPr/>
        </p:nvSpPr>
        <p:spPr>
          <a:xfrm>
            <a:off x="3000345" y="1636142"/>
            <a:ext cx="3076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ARP Reply</a:t>
            </a:r>
          </a:p>
        </p:txBody>
      </p:sp>
      <p:pic>
        <p:nvPicPr>
          <p:cNvPr id="205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45" y="1993354"/>
            <a:ext cx="3076536" cy="185569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2" name="TextBox 3"/>
          <p:cNvSpPr txBox="1"/>
          <p:nvPr/>
        </p:nvSpPr>
        <p:spPr>
          <a:xfrm>
            <a:off x="5993394" y="1625588"/>
            <a:ext cx="31596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Spoofed Gratuitous ARP replies</a:t>
            </a:r>
          </a:p>
        </p:txBody>
      </p:sp>
      <p:pic>
        <p:nvPicPr>
          <p:cNvPr id="2052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"/>
          <a:stretch/>
        </p:blipFill>
        <p:spPr bwMode="auto">
          <a:xfrm>
            <a:off x="6195955" y="2031729"/>
            <a:ext cx="2830356" cy="1808262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Content Placeholder 2"/>
          <p:cNvSpPr txBox="1"/>
          <p:nvPr/>
        </p:nvSpPr>
        <p:spPr>
          <a:xfrm>
            <a:off x="244443" y="3965410"/>
            <a:ext cx="8781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000000"/>
                </a:solidFill>
              </a:rPr>
              <a:t>Note</a:t>
            </a:r>
            <a:r>
              <a:rPr lang="en-US" sz="1600" i="1" dirty="0">
                <a:solidFill>
                  <a:srgbClr val="000000"/>
                </a:solidFill>
              </a:rPr>
              <a:t>: There are many tools available on the internet to create ARP MITM attacks including </a:t>
            </a:r>
            <a:r>
              <a:rPr lang="en-US" sz="1600" i="1" dirty="0" err="1">
                <a:solidFill>
                  <a:srgbClr val="000000"/>
                </a:solidFill>
              </a:rPr>
              <a:t>dsniff</a:t>
            </a:r>
            <a:r>
              <a:rPr lang="en-US" sz="1600" i="1" dirty="0">
                <a:solidFill>
                  <a:srgbClr val="000000"/>
                </a:solidFill>
              </a:rPr>
              <a:t>, Cain &amp; Abel, </a:t>
            </a:r>
            <a:r>
              <a:rPr lang="en-US" sz="1600" i="1" dirty="0" err="1">
                <a:solidFill>
                  <a:srgbClr val="000000"/>
                </a:solidFill>
              </a:rPr>
              <a:t>ettercap</a:t>
            </a:r>
            <a:r>
              <a:rPr lang="en-US" sz="1600" i="1" dirty="0">
                <a:solidFill>
                  <a:srgbClr val="000000"/>
                </a:solidFill>
              </a:rPr>
              <a:t>, Yersinia, and others.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7537394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Attacking What We Do</a:t>
            </a:r>
          </a:p>
          <a:p>
            <a:r>
              <a:rPr lang="en-US" dirty="0"/>
              <a:t>DNS Attacks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4"/>
            <a:ext cx="8863748" cy="1341142"/>
          </a:xfrm>
        </p:spPr>
        <p:txBody>
          <a:bodyPr/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DNS attacks include the following: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b="1" dirty="0"/>
              <a:t>DNS open resolver attacks: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en-US" sz="1600" dirty="0"/>
              <a:t>A DNS open resolver is a </a:t>
            </a:r>
            <a:r>
              <a:rPr lang="en-IN" sz="1600" dirty="0"/>
              <a:t>publicly open DNS server such as Google DNS (8.8.8.8) that </a:t>
            </a:r>
            <a:r>
              <a:rPr lang="en-US" sz="1600" dirty="0"/>
              <a:t>answers client’s queries outside its administrative domain. DNS open resolvers are vulnerable to multiple malicious activities described in the table.</a:t>
            </a:r>
            <a:endParaRPr lang="en-US" sz="1600" b="1" dirty="0"/>
          </a:p>
          <a:p>
            <a:pPr marL="0" lvl="2" indent="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None/>
            </a:pPr>
            <a:endParaRPr lang="en-US" sz="16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372876"/>
              </p:ext>
            </p:extLst>
          </p:nvPr>
        </p:nvGraphicFramePr>
        <p:xfrm>
          <a:off x="366407" y="2334657"/>
          <a:ext cx="8330120" cy="2256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115"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DNS Resolver Vulnerabilities</a:t>
                      </a:r>
                      <a:endParaRPr lang="en-US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Description</a:t>
                      </a:r>
                      <a:endParaRPr lang="en-US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463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>
                          <a:effectLst/>
                        </a:rPr>
                        <a:t>DNS cache poisoning attacks</a:t>
                      </a:r>
                      <a:endParaRPr lang="en-US" b="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>
                          <a:effectLst/>
                        </a:rPr>
                        <a:t>Threat actors send spoofed, falsified Record Resource (RR) information to a DNS resolver to redirect users from legitimate sites to malicious sites. 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386">
                <a:tc>
                  <a:txBody>
                    <a:bodyPr/>
                    <a:lstStyle/>
                    <a:p>
                      <a:pPr fontAlgn="ctr"/>
                      <a:r>
                        <a:rPr lang="en-US" b="1">
                          <a:effectLst/>
                        </a:rPr>
                        <a:t>DNS amplification and reflection attacks</a:t>
                      </a:r>
                      <a:endParaRPr lang="en-US" b="0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>
                          <a:effectLst/>
                        </a:rPr>
                        <a:t>Threat actors send DNS messages to the open resolvers using the IP address of a target host. 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386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>
                          <a:effectLst/>
                        </a:rPr>
                        <a:t>DNS resource utilization attacks</a:t>
                      </a:r>
                      <a:endParaRPr lang="en-US" b="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>
                          <a:effectLst/>
                        </a:rPr>
                        <a:t>This DoS attack consumes all the available resources to negatively affect the operations of the DNS open resolver. 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1344408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Attacking What We Do</a:t>
            </a:r>
          </a:p>
          <a:p>
            <a:r>
              <a:rPr lang="en-US" dirty="0"/>
              <a:t>DNS Attacks (Contd.)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4"/>
            <a:ext cx="8863748" cy="134114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DNS Stealth Attacks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To hide their identity, threat actors also use the DNS stealth techniques described in the table to carry out their attacks.</a:t>
            </a:r>
            <a:endParaRPr lang="en-US" sz="16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821204"/>
              </p:ext>
            </p:extLst>
          </p:nvPr>
        </p:nvGraphicFramePr>
        <p:xfrm>
          <a:off x="376135" y="1921079"/>
          <a:ext cx="8330120" cy="2610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7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2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17"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DNS Stealth Techniques</a:t>
                      </a:r>
                      <a:endParaRPr lang="en-US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Description</a:t>
                      </a:r>
                      <a:endParaRPr lang="en-US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515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>
                          <a:effectLst/>
                        </a:rPr>
                        <a:t>Fast Flux</a:t>
                      </a:r>
                      <a:endParaRPr lang="en-US" b="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>
                          <a:effectLst/>
                        </a:rPr>
                        <a:t>Threat actors use this technique to hide their phishing and malware delivery sites. The DNS IP addresses are continuously changed within minutes. 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515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>
                          <a:effectLst/>
                        </a:rPr>
                        <a:t>Double IP Flux</a:t>
                      </a:r>
                      <a:endParaRPr lang="en-US" b="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>
                          <a:effectLst/>
                        </a:rPr>
                        <a:t>Threat actors use this technique to rapidly change the hostname to IP address mappings and to also change the authoritative name server. </a:t>
                      </a: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increases the difficulty of identifying the source of the attack.</a:t>
                      </a:r>
                      <a:endParaRPr lang="en-US" b="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5406">
                <a:tc>
                  <a:txBody>
                    <a:bodyPr/>
                    <a:lstStyle/>
                    <a:p>
                      <a:pPr fontAlgn="ctr"/>
                      <a:r>
                        <a:rPr lang="en-US" b="1" dirty="0">
                          <a:effectLst/>
                        </a:rPr>
                        <a:t>Domain Generation Algorithms</a:t>
                      </a:r>
                      <a:endParaRPr lang="en-US" b="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>
                          <a:effectLst/>
                        </a:rPr>
                        <a:t>Threat actors use this technique in malware to randomly generate domain names that can then be used as rendezvous points to their command and control (C&amp;C) servers.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290599345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Attacking What We Do</a:t>
            </a:r>
          </a:p>
          <a:p>
            <a:r>
              <a:rPr lang="en-US" dirty="0"/>
              <a:t>DNS Attacks (Contd.)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4"/>
            <a:ext cx="8863748" cy="2343090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DNS Domain Shadowing Attacks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In Domain Shadowing, threat actor gather domain account credentials in order to create multiple sub-domains which will be used during the attacks. 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These subdomains typically point to malicious servers without alerting the actual owner of the parent domain.</a:t>
            </a:r>
            <a:endParaRPr lang="en-US" sz="16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7823482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Attacking What We Do</a:t>
            </a:r>
          </a:p>
          <a:p>
            <a:r>
              <a:rPr lang="en-US" dirty="0"/>
              <a:t>DNS Tunneling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3"/>
            <a:ext cx="8583476" cy="340340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1600" dirty="0"/>
              <a:t>It is necessary for the cybersecurity analyst to be able to detect when an attacker is using DNS tunneling to steal data, and prevent and contain the attack. 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To accomplish this, the security analyst must implement a solution that can block the outbound communications from the infected hosts.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Threat actors who use DNS tunneling place non-DNS traffic within DNS traffic. This method often circumvents security solutions.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 For the threat actor to use DNS tunneling, the different types of DNS records such as TXT, MX, SRV, NULL, A, or CNAME are altered. </a:t>
            </a:r>
            <a:r>
              <a:rPr lang="en-IN" sz="1600" dirty="0"/>
              <a:t>For example, a TXT record can store the commands that are sent to the infected host bots as DNS replies. </a:t>
            </a:r>
            <a:endParaRPr lang="en-US" sz="1600" dirty="0"/>
          </a:p>
          <a:p>
            <a:pPr>
              <a:buFont typeface="Arial" pitchFamily="34" charset="0"/>
              <a:buChar char="•"/>
            </a:pPr>
            <a:r>
              <a:rPr lang="en-IN" sz="1600" dirty="0"/>
              <a:t>To stop DNS </a:t>
            </a:r>
            <a:r>
              <a:rPr lang="en-IN" sz="1600" dirty="0" err="1"/>
              <a:t>tunneling</a:t>
            </a:r>
            <a:r>
              <a:rPr lang="en-IN" sz="1600" dirty="0"/>
              <a:t>, a filter that inspects DNS traffic must be used.</a:t>
            </a: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0699526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Attacking What We Do</a:t>
            </a:r>
          </a:p>
          <a:p>
            <a:r>
              <a:rPr lang="en-US" dirty="0"/>
              <a:t>DHCP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4" y="798943"/>
            <a:ext cx="3866622" cy="4269168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1600" dirty="0"/>
              <a:t>DHCP servers dynamically provide IP configuration information to clients.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In the figure, a client broadcasts a DHCP discover message. 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The DHCP server responds with a unicast offer that includes addressing information the client can use.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 The client broadcasts a DHCP request to tell the server that the client accepts the offer. 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The server responds with a unicast acknowledgment accepting the request.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1"/>
          <a:stretch/>
        </p:blipFill>
        <p:spPr bwMode="auto">
          <a:xfrm>
            <a:off x="3969696" y="948514"/>
            <a:ext cx="4945704" cy="3365712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TextBox 3"/>
          <p:cNvSpPr/>
          <p:nvPr/>
        </p:nvSpPr>
        <p:spPr>
          <a:xfrm>
            <a:off x="3969696" y="4354721"/>
            <a:ext cx="4812165" cy="199176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0000"/>
                </a:solidFill>
              </a:rPr>
              <a:t>Normal DHCP Operation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7307285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Attacking What We Do</a:t>
            </a:r>
          </a:p>
          <a:p>
            <a:r>
              <a:rPr lang="en-US" dirty="0"/>
              <a:t>DHCP Attacks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3" y="798943"/>
            <a:ext cx="8844294" cy="4269168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DHCP Spoofing Attack</a:t>
            </a:r>
            <a:endParaRPr lang="en-US" sz="1600" dirty="0"/>
          </a:p>
          <a:p>
            <a:pPr>
              <a:buFont typeface="Arial" pitchFamily="34" charset="0"/>
              <a:buChar char="•"/>
            </a:pPr>
            <a:r>
              <a:rPr lang="en-IN" sz="1600" dirty="0"/>
              <a:t>A DHCP spoofing attack </a:t>
            </a:r>
            <a:r>
              <a:rPr lang="en-US" sz="1600" dirty="0"/>
              <a:t>occurs when a rogue DHCP server is connected to the network and provides false IP configuration parameters to legitimate clients.</a:t>
            </a:r>
          </a:p>
          <a:p>
            <a:pPr marL="0" indent="0">
              <a:buNone/>
            </a:pPr>
            <a:r>
              <a:rPr lang="en-US" sz="1600" dirty="0"/>
              <a:t> A rogue server can provide a variety of misleading information such as:</a:t>
            </a:r>
          </a:p>
          <a:p>
            <a:pPr lvl="2">
              <a:buFont typeface="Arial" pitchFamily="34" charset="0"/>
              <a:buChar char="•"/>
            </a:pPr>
            <a:r>
              <a:rPr lang="en-US" sz="1600" b="1" dirty="0"/>
              <a:t>Wrong default gateway</a:t>
            </a:r>
            <a:r>
              <a:rPr lang="en-US" sz="1600" dirty="0"/>
              <a:t> - Threat actor provides an invalid gateway, or the IP address of its host to create a MITM (Man In The Middle) attack.</a:t>
            </a:r>
          </a:p>
          <a:p>
            <a:pPr lvl="2">
              <a:buFont typeface="Arial" pitchFamily="34" charset="0"/>
              <a:buChar char="•"/>
            </a:pPr>
            <a:r>
              <a:rPr lang="en-US" sz="1600" b="1" dirty="0"/>
              <a:t>Wrong DNS server</a:t>
            </a:r>
            <a:r>
              <a:rPr lang="en-US" sz="1600" dirty="0"/>
              <a:t> - Threat actor provides an incorrect DNS server address pointing the user to a malicious website.</a:t>
            </a:r>
          </a:p>
          <a:p>
            <a:pPr lvl="2">
              <a:buFont typeface="Arial" pitchFamily="34" charset="0"/>
              <a:buChar char="•"/>
            </a:pPr>
            <a:r>
              <a:rPr lang="en-US" sz="1600" b="1" dirty="0"/>
              <a:t>Wrong IP address</a:t>
            </a:r>
            <a:r>
              <a:rPr lang="en-US" sz="1600" dirty="0"/>
              <a:t> - Threat actor provides an invalid IP address, invalid default gateway IP address, or both. The threat actor then creates a DoS attack on the DHCP client.</a:t>
            </a:r>
          </a:p>
          <a:p>
            <a:pPr marL="261937" lvl="2" indent="0">
              <a:buNone/>
            </a:pPr>
            <a:br>
              <a:rPr lang="en-US" sz="1600" dirty="0"/>
            </a:b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0361010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Attacking What We Do</a:t>
            </a:r>
          </a:p>
          <a:p>
            <a:r>
              <a:rPr lang="en-US" dirty="0"/>
              <a:t>Exploring DNS Traffic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3" y="798943"/>
            <a:ext cx="8698380" cy="3724419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In this lab, you will complete the following objectives:</a:t>
            </a:r>
          </a:p>
          <a:p>
            <a:pPr>
              <a:buFont typeface="Arial" pitchFamily="34" charset="0"/>
              <a:buChar char="•"/>
            </a:pPr>
            <a:r>
              <a:rPr lang="fr-FR" sz="1600" dirty="0"/>
              <a:t>Capture DNS Traffic</a:t>
            </a:r>
          </a:p>
          <a:p>
            <a:pPr>
              <a:buFont typeface="Arial" pitchFamily="34" charset="0"/>
              <a:buChar char="•"/>
            </a:pPr>
            <a:r>
              <a:rPr lang="fr-FR" sz="1600" dirty="0"/>
              <a:t>Explore DNS Query Traffic</a:t>
            </a:r>
          </a:p>
          <a:p>
            <a:pPr>
              <a:buFont typeface="Arial" pitchFamily="34" charset="0"/>
              <a:buChar char="•"/>
            </a:pPr>
            <a:r>
              <a:rPr lang="fr-FR" sz="1600" dirty="0"/>
              <a:t>Explore DNS Response Traffic</a:t>
            </a:r>
          </a:p>
          <a:p>
            <a:pPr marL="0" indent="0">
              <a:buNone/>
            </a:pPr>
            <a:br>
              <a:rPr lang="fr-FR" sz="1600" dirty="0"/>
            </a:b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6021499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941" y="1104253"/>
            <a:ext cx="8306225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17.2 Enterprise Services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0007029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Enterprise Services</a:t>
            </a:r>
          </a:p>
          <a:p>
            <a:r>
              <a:rPr lang="en-US" dirty="0"/>
              <a:t>HTTP and HTTPS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3" y="798943"/>
            <a:ext cx="8698380" cy="39287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To investigate web-based attacks, security analysts must have a good understanding of how a standard web-based attack works. 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Common stages of a typical web attack:</a:t>
            </a:r>
          </a:p>
          <a:p>
            <a:pPr lvl="2"/>
            <a:r>
              <a:rPr lang="en-US" sz="1600" dirty="0"/>
              <a:t>The victim unknowingly visits a web page that has been compromised by malware.</a:t>
            </a:r>
          </a:p>
          <a:p>
            <a:pPr lvl="2"/>
            <a:r>
              <a:rPr lang="en-US" sz="1600" dirty="0"/>
              <a:t>The compromised web page redirects the user to a site containing malicious code.</a:t>
            </a:r>
          </a:p>
          <a:p>
            <a:pPr lvl="2"/>
            <a:r>
              <a:rPr lang="en-US" sz="1600" dirty="0"/>
              <a:t>The user visits this site with malicious code and their computer becomes infected. </a:t>
            </a:r>
          </a:p>
          <a:p>
            <a:pPr lvl="2"/>
            <a:r>
              <a:rPr lang="en-US" sz="1600" dirty="0"/>
              <a:t>After identifying a vulnerable software package running on the victim’s computer, the exploit kit contacts the exploit kit server to download the malicious code.</a:t>
            </a:r>
          </a:p>
          <a:p>
            <a:pPr lvl="2"/>
            <a:r>
              <a:rPr lang="en-US" sz="1600" dirty="0"/>
              <a:t>After the victim’s computer has been compromised, it connects to the malware server and downloads a payload. </a:t>
            </a:r>
          </a:p>
          <a:p>
            <a:pPr lvl="2"/>
            <a:r>
              <a:rPr lang="en-US" sz="1600" dirty="0"/>
              <a:t>The final malware package is run on the victim’s computer.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827677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Enterprise Services</a:t>
            </a:r>
          </a:p>
          <a:p>
            <a:r>
              <a:rPr lang="en-US" dirty="0"/>
              <a:t>HTTP and HTTPS (Contd.)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8381" y="762731"/>
            <a:ext cx="8698380" cy="392870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1600" dirty="0"/>
              <a:t>Server connection logs can often reveal information about the type of scan or attack.</a:t>
            </a:r>
          </a:p>
          <a:p>
            <a:pPr>
              <a:buFont typeface="Arial" pitchFamily="34" charset="0"/>
              <a:buChar char="•"/>
            </a:pPr>
            <a:r>
              <a:rPr lang="en-IN" sz="1600" dirty="0"/>
              <a:t>The different types of connection status codes are: </a:t>
            </a:r>
          </a:p>
          <a:p>
            <a:pPr lvl="1">
              <a:buFont typeface="Arial" pitchFamily="34" charset="0"/>
              <a:buChar char="•"/>
            </a:pPr>
            <a:r>
              <a:rPr lang="en-US" sz="1600" b="1" dirty="0"/>
              <a:t>Informational 1xx</a:t>
            </a:r>
            <a:r>
              <a:rPr lang="en-US" sz="1600" dirty="0"/>
              <a:t> </a:t>
            </a:r>
          </a:p>
          <a:p>
            <a:pPr lvl="1">
              <a:buFont typeface="Arial" pitchFamily="34" charset="0"/>
              <a:buChar char="•"/>
            </a:pPr>
            <a:r>
              <a:rPr lang="en-US" sz="1600" b="1" dirty="0"/>
              <a:t>Successful 2xx</a:t>
            </a:r>
            <a:r>
              <a:rPr lang="en-US" sz="1600" dirty="0"/>
              <a:t> </a:t>
            </a:r>
          </a:p>
          <a:p>
            <a:pPr lvl="1">
              <a:buFont typeface="Arial" pitchFamily="34" charset="0"/>
              <a:buChar char="•"/>
            </a:pPr>
            <a:r>
              <a:rPr lang="en-US" sz="1600" b="1" dirty="0"/>
              <a:t>Redirection 3xx</a:t>
            </a:r>
            <a:r>
              <a:rPr lang="en-US" sz="1600" dirty="0"/>
              <a:t> </a:t>
            </a:r>
          </a:p>
          <a:p>
            <a:pPr lvl="1">
              <a:buFont typeface="Arial" pitchFamily="34" charset="0"/>
              <a:buChar char="•"/>
            </a:pPr>
            <a:r>
              <a:rPr lang="en-US" sz="1600" b="1" dirty="0"/>
              <a:t>Client Error 4xx</a:t>
            </a:r>
            <a:r>
              <a:rPr lang="en-US" sz="1600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To defend against web-based attacks:</a:t>
            </a:r>
          </a:p>
          <a:p>
            <a:pPr lvl="1"/>
            <a:r>
              <a:rPr lang="en-US" sz="1600" dirty="0"/>
              <a:t>Always update the OS and browsers with current patches and updates.</a:t>
            </a:r>
          </a:p>
          <a:p>
            <a:pPr lvl="1"/>
            <a:r>
              <a:rPr lang="en-US" sz="1600" dirty="0"/>
              <a:t>Use a web proxy to block malicious sites.</a:t>
            </a:r>
          </a:p>
          <a:p>
            <a:pPr lvl="1"/>
            <a:r>
              <a:rPr lang="en-US" sz="1600" dirty="0"/>
              <a:t>Use the best security practices from the Open Web Application Security Project (OWASP) when developing web applications.</a:t>
            </a:r>
          </a:p>
          <a:p>
            <a:pPr lvl="1"/>
            <a:r>
              <a:rPr lang="en-US" sz="1600" dirty="0"/>
              <a:t>Educate end users by showing them how to avoid web-based attacks.</a:t>
            </a:r>
          </a:p>
          <a:p>
            <a:pPr marL="142875" lvl="1" indent="0">
              <a:buNone/>
            </a:pP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9281042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Enterprise Services</a:t>
            </a:r>
          </a:p>
          <a:p>
            <a:r>
              <a:rPr lang="en-US" dirty="0"/>
              <a:t>Common HTTP Exploits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89327" y="744625"/>
            <a:ext cx="9099528" cy="3928700"/>
          </a:xfrm>
        </p:spPr>
        <p:txBody>
          <a:bodyPr/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b="1" dirty="0"/>
              <a:t>Malicious iFrames</a:t>
            </a:r>
            <a:endParaRPr lang="en-US" sz="1600" dirty="0"/>
          </a:p>
          <a:p>
            <a:pPr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en-US" sz="1600" dirty="0"/>
              <a:t>An iFrame is an HTML element that allows the browser to load another web page from another source.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en-US" sz="1600" dirty="0"/>
              <a:t>In </a:t>
            </a:r>
            <a:r>
              <a:rPr lang="en-US" sz="1600" dirty="0" err="1"/>
              <a:t>iFrame</a:t>
            </a:r>
            <a:r>
              <a:rPr lang="en-US" sz="1600" dirty="0"/>
              <a:t> attacks, the threat actors insert advertisements from other sources into the page. 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en-IN" sz="1600" dirty="0"/>
              <a:t>Threat actors compromise a webserver and modify web pages by adding HTML for the malicious </a:t>
            </a:r>
            <a:r>
              <a:rPr lang="en-IN" sz="1600" dirty="0" err="1"/>
              <a:t>iFrame</a:t>
            </a:r>
            <a:r>
              <a:rPr lang="en-IN" sz="1600" dirty="0"/>
              <a:t>.</a:t>
            </a:r>
            <a:endParaRPr lang="en-US" sz="1600" dirty="0"/>
          </a:p>
          <a:p>
            <a:pPr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en-US" sz="1600" dirty="0"/>
              <a:t>As the iFrame is running in the page, it can be used to deliver a malicious exploit. such as spam advertising, exploit kits, and other malware.</a:t>
            </a:r>
          </a:p>
          <a:p>
            <a:pPr marL="188912" lvl="1" indent="0">
              <a:buNone/>
            </a:pPr>
            <a:r>
              <a:rPr lang="en-US" sz="1600" b="1" dirty="0"/>
              <a:t>Steps to prevent or reduce malicious </a:t>
            </a:r>
            <a:r>
              <a:rPr lang="en-US" sz="1600" b="1" dirty="0" err="1"/>
              <a:t>iFrames</a:t>
            </a:r>
            <a:r>
              <a:rPr lang="en-US" sz="1600" b="1" dirty="0"/>
              <a:t>:</a:t>
            </a:r>
          </a:p>
          <a:p>
            <a:pPr lvl="1" indent="-177800">
              <a:buFont typeface="Arial" pitchFamily="34" charset="0"/>
              <a:buChar char="•"/>
            </a:pPr>
            <a:r>
              <a:rPr lang="en-US" sz="1600" dirty="0"/>
              <a:t>Use a web proxy like to block malicious sites. </a:t>
            </a:r>
          </a:p>
          <a:p>
            <a:pPr lvl="1" indent="-177800">
              <a:buFont typeface="Arial" pitchFamily="34" charset="0"/>
              <a:buChar char="•"/>
            </a:pPr>
            <a:r>
              <a:rPr lang="en-IN" sz="1600" dirty="0"/>
              <a:t>Ensure web developers do not use </a:t>
            </a:r>
            <a:r>
              <a:rPr lang="en-IN" sz="1600" dirty="0" err="1"/>
              <a:t>iFrames</a:t>
            </a:r>
            <a:r>
              <a:rPr lang="en-IN" sz="1600" dirty="0"/>
              <a:t>. </a:t>
            </a:r>
            <a:endParaRPr lang="en-US" sz="1600" dirty="0"/>
          </a:p>
          <a:p>
            <a:pPr lvl="1" indent="-177800">
              <a:buFont typeface="Arial" pitchFamily="34" charset="0"/>
              <a:buChar char="•"/>
            </a:pPr>
            <a:r>
              <a:rPr lang="en-US" sz="1600" dirty="0"/>
              <a:t>Use a service such as Cisco Umbrella to prevent users from navigating to malicious websites.</a:t>
            </a:r>
          </a:p>
          <a:p>
            <a:pPr lvl="1" indent="-177800">
              <a:buFont typeface="Arial" pitchFamily="34" charset="0"/>
              <a:buChar char="•"/>
            </a:pPr>
            <a:r>
              <a:rPr lang="en-US" sz="1600" dirty="0"/>
              <a:t>Ensure the end user understands what an Iframe is.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7031790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Enterprise Services</a:t>
            </a:r>
          </a:p>
          <a:p>
            <a:r>
              <a:rPr lang="en-US" dirty="0"/>
              <a:t>Common HTTP Exploits (Contd.)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89328" y="798943"/>
            <a:ext cx="8698380" cy="3928700"/>
          </a:xfrm>
        </p:spPr>
        <p:txBody>
          <a:bodyPr/>
          <a:lstStyle/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/>
              <a:t>HTTP 302 Cushioning</a:t>
            </a:r>
            <a:endParaRPr lang="en-US" sz="1600" dirty="0"/>
          </a:p>
          <a:p>
            <a:pPr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•"/>
            </a:pPr>
            <a:r>
              <a:rPr lang="en-US" sz="1600" dirty="0"/>
              <a:t>Threat actors use the 302 Found HTTP response status code to direct the user’s web browser to a new location. 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•"/>
            </a:pPr>
            <a:r>
              <a:rPr lang="en-US" sz="1600" dirty="0"/>
              <a:t>The browser believes that the new location is the URL provided in the header. </a:t>
            </a:r>
            <a:r>
              <a:rPr lang="en-IN" sz="1600" dirty="0"/>
              <a:t>The browser is invited to request this new URL. </a:t>
            </a:r>
            <a:r>
              <a:rPr lang="en-US" sz="1600" dirty="0"/>
              <a:t>This redirect function can be used multiple times until the browser finally lands on the page that contains the exploit. </a:t>
            </a:r>
          </a:p>
          <a:p>
            <a:pPr indent="11113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/>
              <a:t>Steps to prevent or reduce HTTP 302 cushioning attacks:</a:t>
            </a:r>
          </a:p>
          <a:p>
            <a:pPr lvl="2"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•"/>
            </a:pPr>
            <a:r>
              <a:rPr lang="en-US" sz="1600" dirty="0"/>
              <a:t>Use a web proxy to block malicious sites.</a:t>
            </a:r>
          </a:p>
          <a:p>
            <a:pPr lvl="2"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•"/>
            </a:pPr>
            <a:r>
              <a:rPr lang="en-US" sz="1600" dirty="0"/>
              <a:t>Use a service such as Cisco Umbrella to prevent users from navigating to malicious websites.</a:t>
            </a:r>
          </a:p>
          <a:p>
            <a:pPr lvl="2">
              <a:spcBef>
                <a:spcPts val="400"/>
              </a:spcBef>
              <a:spcAft>
                <a:spcPts val="400"/>
              </a:spcAft>
              <a:buFont typeface="Arial" pitchFamily="34" charset="0"/>
              <a:buChar char="•"/>
            </a:pPr>
            <a:r>
              <a:rPr lang="en-US" sz="1600" dirty="0"/>
              <a:t>Ensure the end user understands how the browser is redirected through a series of HTTP 302 redirections.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endParaRPr lang="en-US" sz="16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2810785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Enterprise Services</a:t>
            </a:r>
          </a:p>
          <a:p>
            <a:r>
              <a:rPr lang="en-US" dirty="0"/>
              <a:t>Common HTTP Exploits (Contd.)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8381" y="798942"/>
            <a:ext cx="8698380" cy="4239985"/>
          </a:xfrm>
        </p:spPr>
        <p:txBody>
          <a:bodyPr/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b="1" dirty="0"/>
              <a:t>Domain Shadowing</a:t>
            </a:r>
            <a:endParaRPr lang="en-US" sz="1600" dirty="0"/>
          </a:p>
          <a:p>
            <a:pPr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en-US" sz="1600" dirty="0"/>
              <a:t>When a threat actor create a domain shadowing attack, first they compromise a domain. Then they must create multiple subdomains of that domain to be used for the attacks using Hijacked domain registration logins. 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en-IN" sz="1600" dirty="0"/>
              <a:t>After these subdomains have been created, attackers can use them even if they are found out to be malicious domains. They can simply make more from the parent domain.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b="1" dirty="0"/>
              <a:t>Steps to prevent or reduce Domain shadowing attacks: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en-US" sz="1600" dirty="0"/>
              <a:t>Secure all domain owner accounts. 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en-US" sz="1600" dirty="0"/>
              <a:t>Use a web proxy to block malicious sites.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en-US" sz="1600" dirty="0"/>
              <a:t>Use a service such as Cisco Umbrella to prevent users from navigating to web sites that are known to be malicious.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en-US" sz="1600" dirty="0"/>
              <a:t>Make sure that domain owners validate their registration accounts and look for any subdomains that they have not authorized.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1519747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Enterprise Services</a:t>
            </a:r>
          </a:p>
          <a:p>
            <a:r>
              <a:rPr lang="en-US" dirty="0"/>
              <a:t>Email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3" y="798942"/>
            <a:ext cx="8698380" cy="423998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As the level of use of email rises, security becomes a greater priority.</a:t>
            </a:r>
            <a:r>
              <a:rPr lang="en-US" sz="1600" b="1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The way users access email today also increases the opportunity for the threat of malware to be introduced.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Examples of email threats: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Attachment-based attacks</a:t>
            </a:r>
            <a:r>
              <a:rPr lang="en-US" sz="1600" dirty="0"/>
              <a:t> - Threat actors embed malicious content in business files such as an email from the IT department.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Email spoofing</a:t>
            </a:r>
            <a:r>
              <a:rPr lang="en-US" sz="1600" dirty="0"/>
              <a:t> - Threat actors create email messages with a forged sender address that is meant to fool the recipient into providing money or sensitive information.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Spam email</a:t>
            </a:r>
            <a:r>
              <a:rPr lang="en-US" sz="1600" dirty="0"/>
              <a:t> - Threat actors send unsolicited email containing advertisements or malicious files.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Open mail relay server - </a:t>
            </a:r>
            <a:r>
              <a:rPr lang="en-US" sz="1600" dirty="0"/>
              <a:t>This is an SMTP server that allows anybody on the internet to send mail.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7959694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Enterprise Services</a:t>
            </a:r>
          </a:p>
          <a:p>
            <a:r>
              <a:rPr lang="en-US" dirty="0"/>
              <a:t>Web-Exposed Databases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5540" y="835155"/>
            <a:ext cx="8698380" cy="3948156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Web applications commonly connect to a relational database to access data.</a:t>
            </a:r>
            <a:endParaRPr lang="en-US" sz="1600" dirty="0"/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As relational databases often contain sensitive data, databases are a frequent target for attacks.</a:t>
            </a:r>
            <a:endParaRPr lang="en-US" sz="1600" b="1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b="1" dirty="0"/>
              <a:t>Code Injection</a:t>
            </a:r>
            <a:endParaRPr lang="en-US" sz="1600" dirty="0"/>
          </a:p>
          <a:p>
            <a:pPr lvl="2"/>
            <a:r>
              <a:rPr lang="en-US" sz="1600" dirty="0"/>
              <a:t>The attacker’s commands are executed through the web application and has the same permissions as the web application.</a:t>
            </a:r>
          </a:p>
          <a:p>
            <a:pPr lvl="2"/>
            <a:r>
              <a:rPr lang="en-IN" sz="1600" dirty="0"/>
              <a:t>This type of attack is used because often there is insufficient validation of input.</a:t>
            </a:r>
            <a:endParaRPr lang="en-US" sz="1600" dirty="0"/>
          </a:p>
          <a:p>
            <a:pPr marL="0" lvl="2" indent="0">
              <a:buNone/>
            </a:pPr>
            <a:r>
              <a:rPr lang="en-US" sz="1600" b="1" dirty="0"/>
              <a:t>SQL Injection</a:t>
            </a:r>
          </a:p>
          <a:p>
            <a:pPr marL="442913" lvl="2" indent="-171450"/>
            <a:r>
              <a:rPr lang="en-IN" sz="1600" dirty="0"/>
              <a:t>Threat actors use SQL injections to breach the relational database, create malicious SQL queries, and obtain sensitive data from the relational database.</a:t>
            </a:r>
            <a:endParaRPr lang="en-US" sz="1600" dirty="0"/>
          </a:p>
          <a:p>
            <a:pPr marL="442913" lvl="2" indent="-171450"/>
            <a:r>
              <a:rPr lang="en-IN" sz="1600" dirty="0"/>
              <a:t>A successful SQL injection exploit can read sensitive data from the database, modify database data, execute administration operations on the database, and sometimes, issue commands to the operating system.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0411512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Enterprise Services</a:t>
            </a:r>
          </a:p>
          <a:p>
            <a:r>
              <a:rPr lang="en-US" dirty="0"/>
              <a:t>Client-side Scripting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1222" y="798943"/>
            <a:ext cx="8698380" cy="3948156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Cross-Site Scripting</a:t>
            </a:r>
            <a:endParaRPr lang="en-US" sz="1600" dirty="0"/>
          </a:p>
          <a:p>
            <a:pPr marL="271463" lvl="2" indent="-180975"/>
            <a:r>
              <a:rPr lang="en-US" sz="1600" dirty="0"/>
              <a:t>Cross-Site Scripting (XSS) is where web pages that are executed on the client-side, within their own web browser, are injected with malicious scripts. </a:t>
            </a:r>
          </a:p>
          <a:p>
            <a:pPr marL="271463" lvl="2" indent="-180975"/>
            <a:r>
              <a:rPr lang="en-US" sz="1600" dirty="0"/>
              <a:t>These scripts can be used by Visual Basic, JavaScript, and others to access a computer, collect sensitive information, or deploy more attacks and spread malware. </a:t>
            </a:r>
          </a:p>
          <a:p>
            <a:pPr marL="271463" lvl="2" indent="-180975"/>
            <a:r>
              <a:rPr lang="en-US" sz="1600" dirty="0"/>
              <a:t>The two main types of XSS are </a:t>
            </a:r>
            <a:r>
              <a:rPr lang="en-US" sz="1600" b="1" dirty="0"/>
              <a:t>Stored (persistent)</a:t>
            </a:r>
            <a:r>
              <a:rPr lang="en-US" sz="1600" dirty="0"/>
              <a:t> and </a:t>
            </a:r>
            <a:r>
              <a:rPr lang="en-US" sz="1600" b="1" dirty="0"/>
              <a:t>Reflected (non-persistent).</a:t>
            </a:r>
          </a:p>
          <a:p>
            <a:pPr marL="271463" indent="-180975">
              <a:buFont typeface="Arial" panose="020B0604020202020204" pitchFamily="34" charset="0"/>
              <a:buChar char="•"/>
            </a:pPr>
            <a:r>
              <a:rPr lang="en-IN" sz="1600" b="1" dirty="0"/>
              <a:t>Ways to prevent or reduce XSS attacks</a:t>
            </a:r>
            <a:r>
              <a:rPr lang="en-IN" sz="1600" dirty="0"/>
              <a:t>:</a:t>
            </a:r>
          </a:p>
          <a:p>
            <a:pPr marL="625475" lvl="1" indent="-180975">
              <a:buFont typeface="Arial" panose="020B0604020202020204" pitchFamily="34" charset="0"/>
              <a:buChar char="•"/>
            </a:pPr>
            <a:r>
              <a:rPr lang="en-IN" sz="1600" dirty="0"/>
              <a:t>Ensure that web application developers are aware of XSS vulnerabilities and how to avoid them.</a:t>
            </a:r>
          </a:p>
          <a:p>
            <a:pPr marL="625475" lvl="1" indent="-180975">
              <a:buFont typeface="Arial" panose="020B0604020202020204" pitchFamily="34" charset="0"/>
              <a:buChar char="•"/>
            </a:pPr>
            <a:r>
              <a:rPr lang="en-IN" sz="1600" dirty="0"/>
              <a:t>Use an IPS implementation to detect and prevent malicious scripts.</a:t>
            </a:r>
          </a:p>
          <a:p>
            <a:pPr marL="625475" lvl="1" indent="-180975">
              <a:buFont typeface="Arial" panose="020B0604020202020204" pitchFamily="34" charset="0"/>
              <a:buChar char="•"/>
            </a:pPr>
            <a:r>
              <a:rPr lang="en-IN" sz="1600" dirty="0"/>
              <a:t>Use a web proxy to block malicious sites.</a:t>
            </a:r>
          </a:p>
          <a:p>
            <a:pPr marL="625475" lvl="1" indent="-180975">
              <a:buFont typeface="Arial" panose="020B0604020202020204" pitchFamily="34" charset="0"/>
              <a:buChar char="•"/>
            </a:pPr>
            <a:r>
              <a:rPr lang="en-IN" sz="1600" dirty="0"/>
              <a:t>Use a service such as Cisco Umbrella to prevent users from navigating to malicious websites.</a:t>
            </a:r>
          </a:p>
          <a:p>
            <a:pPr lvl="2"/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8223687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Enterprise Services</a:t>
            </a:r>
          </a:p>
          <a:p>
            <a:r>
              <a:rPr lang="en-US" dirty="0"/>
              <a:t>Attacking a MySQL Database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3" y="798943"/>
            <a:ext cx="8698380" cy="394815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In this lab, you will complete the following objective :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View a PCAP file from a previous attack against a SQL database.</a:t>
            </a:r>
            <a:endParaRPr lang="fr-FR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3307424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Enterprise Services</a:t>
            </a:r>
          </a:p>
          <a:p>
            <a:r>
              <a:rPr lang="en-US" dirty="0"/>
              <a:t>Reading Server Logs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3" y="798943"/>
            <a:ext cx="8698380" cy="394815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In this lab, you will complete the following objectives: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Reading Log Files with </a:t>
            </a:r>
            <a:r>
              <a:rPr lang="en-US" sz="1600" b="1" dirty="0"/>
              <a:t>cat</a:t>
            </a:r>
            <a:r>
              <a:rPr lang="en-US" sz="1600" dirty="0"/>
              <a:t>, </a:t>
            </a:r>
            <a:r>
              <a:rPr lang="en-US" sz="1600" b="1" dirty="0"/>
              <a:t>more</a:t>
            </a:r>
            <a:r>
              <a:rPr lang="en-US" sz="1600" dirty="0"/>
              <a:t>, and </a:t>
            </a:r>
            <a:r>
              <a:rPr lang="en-US" sz="1600" b="1" dirty="0"/>
              <a:t>less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Log Files and Syslog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Log Files and </a:t>
            </a:r>
            <a:r>
              <a:rPr lang="en-US" sz="1600" b="1" dirty="0" err="1"/>
              <a:t>journalctl</a:t>
            </a:r>
            <a:endParaRPr lang="en-US" sz="16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6946357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7326" y="1702341"/>
            <a:ext cx="8348870" cy="1610116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17.3 Attacking What We Do Summary</a:t>
            </a:r>
            <a:br>
              <a:rPr lang="en-US" dirty="0"/>
            </a:b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7538417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5100087" cy="757551"/>
          </a:xfrm>
        </p:spPr>
        <p:txBody>
          <a:bodyPr/>
          <a:lstStyle/>
          <a:p>
            <a:r>
              <a:rPr lang="en-US" altLang="en-US" sz="1600" dirty="0"/>
              <a:t>Attacking What We Do Summary</a:t>
            </a:r>
            <a:br>
              <a:rPr lang="en-US" altLang="en-US" dirty="0"/>
            </a:br>
            <a:r>
              <a:rPr lang="en-US" altLang="en-US" dirty="0"/>
              <a:t>What Did I Learn in this Module?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9088" y="744550"/>
            <a:ext cx="8840141" cy="4274248"/>
          </a:xfrm>
        </p:spPr>
        <p:txBody>
          <a:bodyPr/>
          <a:lstStyle/>
          <a:p>
            <a:pPr marL="285750" lvl="2" indent="-28575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90000"/>
              <a:buFont typeface="Arial" pitchFamily="34" charset="0"/>
              <a:buChar char="•"/>
            </a:pPr>
            <a:r>
              <a:rPr lang="en-US" sz="1600" dirty="0"/>
              <a:t>Any client can send an unsolicited ARP Reply called a “gratuitous ARP.” </a:t>
            </a:r>
          </a:p>
          <a:p>
            <a:pPr marL="285750" lvl="2" indent="-28575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90000"/>
              <a:buFont typeface="Arial" pitchFamily="34" charset="0"/>
              <a:buChar char="•"/>
            </a:pPr>
            <a:r>
              <a:rPr lang="en-US" sz="1600" dirty="0"/>
              <a:t>A threat actor can poison the ARP cache of devices on the local network, creating an MiTM attack to redirect traffic.</a:t>
            </a:r>
          </a:p>
          <a:p>
            <a:pPr marL="285750" lvl="2" indent="-28575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90000"/>
              <a:buFont typeface="Arial" pitchFamily="34" charset="0"/>
              <a:buChar char="•"/>
            </a:pPr>
            <a:r>
              <a:rPr lang="en-US" sz="1600" dirty="0"/>
              <a:t>The Domain Name Service (DNS) protocol uses Resource Records (RR) to identify the type of DNS response.</a:t>
            </a:r>
          </a:p>
          <a:p>
            <a:pPr marL="285750" lvl="2" indent="-28575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90000"/>
              <a:buFont typeface="Arial" pitchFamily="34" charset="0"/>
              <a:buChar char="•"/>
            </a:pPr>
            <a:r>
              <a:rPr lang="en-US" sz="1600" dirty="0"/>
              <a:t>DNS open resolvers are vulnerable to multiple malicious activities, including DNS cache poisoning, in which falsified records are provided to the open resolver. </a:t>
            </a:r>
          </a:p>
          <a:p>
            <a:pPr marL="285750" lvl="2" indent="-28575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90000"/>
              <a:buFont typeface="Arial" pitchFamily="34" charset="0"/>
              <a:buChar char="•"/>
            </a:pPr>
            <a:r>
              <a:rPr lang="en-US" sz="1600" dirty="0"/>
              <a:t>In DNS amplification and reflection attacks, the benign nature of the DNS protocol is exploited to cause DoS/ DDoS attacks. </a:t>
            </a:r>
          </a:p>
          <a:p>
            <a:pPr marL="285750" lvl="2" indent="-28575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90000"/>
              <a:buFont typeface="Arial" pitchFamily="34" charset="0"/>
              <a:buChar char="•"/>
            </a:pPr>
            <a:r>
              <a:rPr lang="en-US" sz="1600" dirty="0"/>
              <a:t>In DNS resource utilization attacks, a DoS attack is launched against the DNS server itself. </a:t>
            </a:r>
          </a:p>
          <a:p>
            <a:pPr marL="285750" lvl="2" indent="-28575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90000"/>
              <a:buFont typeface="Arial" pitchFamily="34" charset="0"/>
              <a:buChar char="•"/>
            </a:pPr>
            <a:r>
              <a:rPr lang="en-US" sz="1600" dirty="0"/>
              <a:t>Threat actors use Fast Flux, in which malicious servers will rapidly change their IP address. </a:t>
            </a:r>
          </a:p>
          <a:p>
            <a:pPr marL="285750" lvl="2" indent="-28575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90000"/>
              <a:buFont typeface="Arial" pitchFamily="34" charset="0"/>
              <a:buChar char="•"/>
            </a:pPr>
            <a:r>
              <a:rPr lang="en-US" sz="1600" dirty="0"/>
              <a:t>To stop DNS tunneling, a filter that inspects DNS traffic must be used.</a:t>
            </a:r>
          </a:p>
        </p:txBody>
      </p:sp>
    </p:spTree>
    <p:extLst>
      <p:ext uri="{BB962C8B-B14F-4D97-AF65-F5344CB8AC3E}">
        <p14:creationId xmlns:p14="http://schemas.microsoft.com/office/powerpoint/2010/main" val="3792951178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5181568" cy="757551"/>
          </a:xfrm>
        </p:spPr>
        <p:txBody>
          <a:bodyPr/>
          <a:lstStyle/>
          <a:p>
            <a:r>
              <a:rPr lang="en-US" altLang="en-US" sz="1600" dirty="0"/>
              <a:t>Attacking What We do Summary</a:t>
            </a:r>
            <a:br>
              <a:rPr lang="en-US" altLang="en-US" dirty="0"/>
            </a:br>
            <a:r>
              <a:rPr lang="en-US" altLang="en-US" dirty="0"/>
              <a:t>What Did I Learn in this Module?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88141" y="789815"/>
            <a:ext cx="8840141" cy="379479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1600" dirty="0"/>
              <a:t>A DHCP spoofing attack occurs when a rogue DHCP server is connected to the network and provides false IP configuration parameters to legitimate clients. 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The compromised web page redirects the user to a site that hosts malicious code which is known as a drive-by download. 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Cross-Site Scripting (XSS) attacks occur when browsers execute malicious scripts on the client and provide threat actors with access to sensitive information on the local host.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/>
              <a:t>The OWASP Top 10 Web Application Security Risks is designed to help organizations create secure web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289244573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17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6356224"/>
              </p:ext>
            </p:extLst>
          </p:nvPr>
        </p:nvGraphicFramePr>
        <p:xfrm>
          <a:off x="1403287" y="1120374"/>
          <a:ext cx="6400800" cy="1463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20352">
                  <a:extLst>
                    <a:ext uri="{9D8B030D-6E8A-4147-A177-3AD203B41FA5}">
                      <a16:colId xmlns:a16="http://schemas.microsoft.com/office/drawing/2014/main" val="2731093094"/>
                    </a:ext>
                  </a:extLst>
                </a:gridCol>
                <a:gridCol w="378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4352">
                <a:tc>
                  <a:txBody>
                    <a:bodyPr/>
                    <a:lstStyle/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Record resource (RR)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Command and Control (C&amp;C) 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iFrame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Open Web Application Security Project (OWASP) 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Cross-Site Scripting (XSS) 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Domain Shadowing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795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497809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7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30667</TotalTime>
  <Words>3624</Words>
  <Application>Microsoft Office PowerPoint</Application>
  <PresentationFormat>On-screen Show (16:9)</PresentationFormat>
  <Paragraphs>437</Paragraphs>
  <Slides>35</Slides>
  <Notes>35</Notes>
  <HiddenSlides>7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CiscoSans ExtraLight</vt:lpstr>
      <vt:lpstr>Courier New</vt:lpstr>
      <vt:lpstr>Wingdings</vt:lpstr>
      <vt:lpstr>Default Theme</vt:lpstr>
      <vt:lpstr>Module 17:Attacking What We Do</vt:lpstr>
      <vt:lpstr>Instructor Materials – Module 17 Planning Guide</vt:lpstr>
      <vt:lpstr>What to Expect in this Module</vt:lpstr>
      <vt:lpstr>Check Your Understanding</vt:lpstr>
      <vt:lpstr>Module 17: Activities</vt:lpstr>
      <vt:lpstr>Module 17: Best Practices</vt:lpstr>
      <vt:lpstr>Module 17: Best Practices</vt:lpstr>
      <vt:lpstr>Module 17:Attacking What We Do</vt:lpstr>
      <vt:lpstr>Module Objectives</vt:lpstr>
      <vt:lpstr>17.1 IP Services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17.2 Enterprise Services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17.3 Attacking What We Do Summary </vt:lpstr>
      <vt:lpstr>Attacking What We Do Summary What Did I Learn in this Module?</vt:lpstr>
      <vt:lpstr>Attacking What We do Summary What Did I Learn in this Module?</vt:lpstr>
      <vt:lpstr>Module 17 New Terms and Commands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osama rageh</cp:lastModifiedBy>
  <cp:revision>1327</cp:revision>
  <dcterms:created xsi:type="dcterms:W3CDTF">2016-08-22T22:27:36Z</dcterms:created>
  <dcterms:modified xsi:type="dcterms:W3CDTF">2022-08-26T23:17:13Z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